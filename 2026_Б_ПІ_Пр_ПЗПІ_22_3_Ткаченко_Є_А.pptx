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72" r:id="rId5"/>
    <p:sldId id="273" r:id="rId6"/>
    <p:sldId id="259" r:id="rId7"/>
    <p:sldId id="260" r:id="rId8"/>
    <p:sldId id="261" r:id="rId9"/>
    <p:sldId id="262" r:id="rId10"/>
    <p:sldId id="264" r:id="rId11"/>
    <p:sldId id="265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C638AF82-9019-FAFF-06AC-2BF3F83D0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>
            <a:extLst>
              <a:ext uri="{FF2B5EF4-FFF2-40B4-BE49-F238E27FC236}">
                <a16:creationId xmlns:a16="http://schemas.microsoft.com/office/drawing/2014/main" id="{27589DD4-C21C-767C-F74F-CE0D2181F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>
            <a:extLst>
              <a:ext uri="{FF2B5EF4-FFF2-40B4-BE49-F238E27FC236}">
                <a16:creationId xmlns:a16="http://schemas.microsoft.com/office/drawing/2014/main" id="{8962D21E-66DA-336A-D49E-E473060C1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534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010026B-C4AF-CB97-C0B9-665D2020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>
            <a:extLst>
              <a:ext uri="{FF2B5EF4-FFF2-40B4-BE49-F238E27FC236}">
                <a16:creationId xmlns:a16="http://schemas.microsoft.com/office/drawing/2014/main" id="{11335BAE-0185-DFA5-51BC-E11D2B36D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>
            <a:extLst>
              <a:ext uri="{FF2B5EF4-FFF2-40B4-BE49-F238E27FC236}">
                <a16:creationId xmlns:a16="http://schemas.microsoft.com/office/drawing/2014/main" id="{BBF213C1-4E7E-4868-FA1A-668F2877B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70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59612" y="1538403"/>
            <a:ext cx="6164381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uk-UA" sz="2400" dirty="0"/>
              <a:t>Програмна система для автоматизованого розгортання програмного коду у хмарному </a:t>
            </a:r>
            <a:r>
              <a:rPr lang="uk-UA" sz="2400" dirty="0" err="1"/>
              <a:t>контейнеризованому</a:t>
            </a:r>
            <a:r>
              <a:rPr lang="uk-UA" sz="2400" dirty="0"/>
              <a:t> середовищі</a:t>
            </a:r>
            <a:endParaRPr lang="ru-RU"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28300" y="3510022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20</a:t>
            </a:r>
            <a:r>
              <a:rPr lang="uk" dirty="0"/>
              <a:t> липня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C4691B-6335-882A-D926-956AF22BCF2C}"/>
              </a:ext>
            </a:extLst>
          </p:cNvPr>
          <p:cNvSpPr txBox="1"/>
          <p:nvPr/>
        </p:nvSpPr>
        <p:spPr>
          <a:xfrm>
            <a:off x="3489056" y="2974505"/>
            <a:ext cx="28056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Ткаченко Євген Андрійович</a:t>
            </a:r>
          </a:p>
          <a:p>
            <a:pPr algn="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ПЗПІ-22-3</a:t>
            </a:r>
          </a:p>
          <a:p>
            <a:pPr algn="r"/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</a:t>
            </a:r>
          </a:p>
          <a:p>
            <a:pPr algn="r"/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кафедри ПІ </a:t>
            </a:r>
          </a:p>
          <a:p>
            <a:pPr algn="r"/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Вечур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Олександр Володимирович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313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ринок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демонструє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стійке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зростання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аналітичними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попит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хмарно-орієнтовані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безсерверні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доставки коду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стрімко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збільшується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команд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розробників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автоматизованих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зросла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потребу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мінімізації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витрат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адміністрування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фізичних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перейшла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конвеєрів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Разом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виникла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гостра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потреба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легковагових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засобах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здатних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ізолювати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коду, а 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масштабувати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обчислювальні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нуля — як-от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розроблювана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існуючих рішень — AWS </a:t>
            </a:r>
            <a:r>
              <a:rPr lang="uk-UA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177737" y="509718"/>
            <a:ext cx="5060186" cy="4046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AWS Lambda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позиціонується як індустріальний лідер </a:t>
            </a:r>
            <a:r>
              <a:rPr lang="uk-UA" sz="16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безсерверних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обчислень, що забезпечує автоматичне масштабування (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Scale-to-Zero)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та безшовну інтеграцію з екосистемою хмарних сервісів 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Amazon.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Програма концентрується на виконанні ізольованих функцій і повністю звільняє розробника від рутинного адміністрування операційних систем.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sz="16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Слабкі сторони: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жорстка прив'язка до екосистеми одного провайдера (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Vendor Lock-in),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висока складність локального тестування коду, тривалий час «холодного старту» після періоду </a:t>
            </a:r>
            <a:r>
              <a:rPr lang="uk-UA" sz="16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неактивності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відсутність інструментів збірки образів із сирого тексту в браузері.</a:t>
            </a:r>
            <a:endParaRPr sz="16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A98EA-B010-D6A4-E164-3F645802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100" y="1466162"/>
            <a:ext cx="3747200" cy="21336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B58D862-0C7F-F60D-6DD2-6963E285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9752EB95-2229-27BB-E9A3-1B024345B0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існуючих рішень —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BA2BAF0A-B2CB-705D-E913-0198ACB91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737" y="509718"/>
            <a:ext cx="4971779" cy="4046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Render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позиціонується як сучасна 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PaaS-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платформа, що орієнтується на повний цикл супроводу веб-додатків та баз даних в одному вікні. Програма концентрується на інтуїтивному інтерфейсі та автоматичному пакуванні коду в контейнери безпосередньо з віддалених 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Git-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репозиторіїв розробника.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sz="16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Слабкі сторони: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суттєві інфраструктурні обмеження безкоштовного тарифного плану, тривала затримка при першому вхідному запиті після зупинки контейнера, відсутність вбудованого веб-редактора для швидкого виправлення коду та неможливість розгортання в приватному контурі.</a:t>
            </a:r>
            <a:endParaRPr sz="1600" dirty="0"/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FD7CF79C-0F8D-1467-849F-3B13673677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26E52-A5E6-1AE8-41CF-E2E11F17D061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26FFE-BE13-498D-84EB-4B3041807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040" y="1634387"/>
            <a:ext cx="3747200" cy="187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5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651FB731-E962-0898-9210-65FDBB06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D572436A-AC6B-4457-96F5-EBE042200F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існуючих рішень —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OpenFaaS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6FFF4363-FB5E-93C7-B58A-FEE71E53B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737" y="509718"/>
            <a:ext cx="4971779" cy="4046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en-US" sz="1600" b="1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OpenFaaS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позиціонується як 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Serverless-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платформа з відкритим вихідним кодом, що дозволяє запускати </a:t>
            </a:r>
            <a:r>
              <a:rPr lang="uk-UA" sz="16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безсерверні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функції на будь-якому власному обладнанні, де розгорнуто 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Kubernetes. 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Програма концентрується на повній незалежності від хмарних гігантів та підтримці багатьох мов програмування через шаблони.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sz="16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Слабкі сторони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 високий поріг входження та складність первинного адміністрування кластера, обмежений функціонал базової графічної веб-панелі, необхідність ручного редагування маніфестів безпеки та повна залежність від стабільності </a:t>
            </a:r>
            <a:r>
              <a:rPr lang="uk-UA" sz="16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підстилаючого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Kubernetes-</a:t>
            </a:r>
            <a:r>
              <a:rPr lang="uk-UA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середовища.</a:t>
            </a:r>
            <a:endParaRPr sz="1600" dirty="0"/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5B00FF58-D163-09C2-C272-B813BCAA01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DD5FA1-BD14-2BA6-0753-F8472F3233E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E46E7-9708-A38E-0F4A-6BB7CE139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077" y="1409118"/>
            <a:ext cx="3827163" cy="224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1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1838"/>
            <a:ext cx="8520600" cy="35676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buNone/>
            </a:pPr>
            <a:r>
              <a:rPr lang="uk-UA" sz="2000" dirty="0"/>
              <a:t>Більшість розробників досі змушені налаштовувати локальне середовище «вручну», ведучи розрізнені конфігурації або зовсім не автоматизуючи процеси розгортання; наявні хмарні сервіси вимагають складного адміністрування, тож релізи сповільнюються, а фінансові витрати підвищуються, при цьому інженери не мають гнучкого контролю, а користувачі — швидкого зворотного зв'язку. </a:t>
            </a:r>
            <a:br>
              <a:rPr lang="uk-UA" sz="2000" dirty="0"/>
            </a:br>
            <a:endParaRPr lang="uk-UA" sz="2000" dirty="0"/>
          </a:p>
          <a:p>
            <a:pPr marL="114300" indent="0">
              <a:buNone/>
            </a:pPr>
            <a:r>
              <a:rPr lang="uk-UA" sz="2000" dirty="0"/>
              <a:t>Мій очікуваний результат — веб-платформа в </a:t>
            </a:r>
            <a:r>
              <a:rPr lang="en-US" sz="2000" dirty="0"/>
              <a:t>GKE </a:t>
            </a:r>
            <a:r>
              <a:rPr lang="uk-UA" sz="2000" dirty="0"/>
              <a:t>та утилітою </a:t>
            </a:r>
            <a:r>
              <a:rPr lang="uk-UA" sz="2000" dirty="0" err="1"/>
              <a:t>Kaniko</a:t>
            </a:r>
            <a:r>
              <a:rPr lang="uk-UA" sz="2000" dirty="0"/>
              <a:t> для автоматичної збірки ізольованих образів, </a:t>
            </a:r>
            <a:r>
              <a:rPr lang="uk-UA" sz="2000" dirty="0" err="1"/>
              <a:t>безсерверного</a:t>
            </a:r>
            <a:r>
              <a:rPr lang="uk-UA" sz="2000" dirty="0"/>
              <a:t> масштабування до нуля та миттєвого надання URL.</a:t>
            </a:r>
            <a:endParaRPr lang="ru-RU" sz="20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49741" y="51087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dirty="0"/>
              <a:t>Для реалізації хмарної платформи було обрано сучасний технологічний стек, що забезпечує швидкодію, масштабованість і зручність підтримки інфраструктури.</a:t>
            </a:r>
          </a:p>
          <a:p>
            <a:pPr marL="114300" indent="0">
              <a:buNone/>
            </a:pPr>
            <a:endParaRPr lang="uk-UA" dirty="0"/>
          </a:p>
          <a:p>
            <a:pPr marL="114300" indent="0">
              <a:buNone/>
            </a:pPr>
            <a:r>
              <a:rPr lang="uk-UA" b="1" dirty="0" err="1"/>
              <a:t>Backend</a:t>
            </a:r>
            <a:r>
              <a:rPr lang="en-US" b="1" dirty="0"/>
              <a:t> </a:t>
            </a:r>
            <a:r>
              <a:rPr lang="uk-UA" dirty="0" err="1"/>
              <a:t>Python</a:t>
            </a:r>
            <a:r>
              <a:rPr lang="uk-UA" dirty="0"/>
              <a:t> </a:t>
            </a:r>
            <a:r>
              <a:rPr lang="uk-UA" dirty="0" err="1"/>
              <a:t>FastAPI</a:t>
            </a:r>
            <a:r>
              <a:rPr lang="uk-UA" dirty="0"/>
              <a:t> — для побудови REST-API</a:t>
            </a:r>
            <a:r>
              <a:rPr lang="en-US" dirty="0"/>
              <a:t>, </a:t>
            </a:r>
            <a:r>
              <a:rPr lang="uk-UA" dirty="0" err="1"/>
              <a:t>Kubernetes</a:t>
            </a:r>
            <a:r>
              <a:rPr lang="uk-UA" dirty="0"/>
              <a:t> </a:t>
            </a:r>
            <a:r>
              <a:rPr lang="uk-UA" dirty="0" err="1"/>
              <a:t>Python</a:t>
            </a:r>
            <a:r>
              <a:rPr lang="uk-UA" dirty="0"/>
              <a:t> SDK — інструмент взаємодії з </a:t>
            </a:r>
            <a:r>
              <a:rPr lang="uk-UA" dirty="0" err="1"/>
              <a:t>Control</a:t>
            </a:r>
            <a:r>
              <a:rPr lang="uk-UA" dirty="0"/>
              <a:t> </a:t>
            </a:r>
            <a:r>
              <a:rPr lang="uk-UA" dirty="0" err="1"/>
              <a:t>Plane</a:t>
            </a:r>
            <a:r>
              <a:rPr lang="uk-UA" dirty="0"/>
              <a:t> кластера </a:t>
            </a:r>
          </a:p>
          <a:p>
            <a:pPr marL="114300" indent="0">
              <a:buNone/>
            </a:pPr>
            <a:r>
              <a:rPr lang="uk-UA" b="1" dirty="0" err="1"/>
              <a:t>Frontend</a:t>
            </a:r>
            <a:r>
              <a:rPr lang="uk-UA" b="1" dirty="0"/>
              <a:t> </a:t>
            </a:r>
            <a:r>
              <a:rPr lang="uk-UA" dirty="0" err="1"/>
              <a:t>React</a:t>
            </a:r>
            <a:r>
              <a:rPr lang="uk-UA" dirty="0"/>
              <a:t> + </a:t>
            </a:r>
            <a:r>
              <a:rPr lang="uk-UA" dirty="0" err="1"/>
              <a:t>Monaco</a:t>
            </a:r>
            <a:r>
              <a:rPr lang="uk-UA" dirty="0"/>
              <a:t> </a:t>
            </a:r>
            <a:r>
              <a:rPr lang="uk-UA" dirty="0" err="1"/>
              <a:t>Editor</a:t>
            </a:r>
            <a:r>
              <a:rPr lang="uk-UA" dirty="0"/>
              <a:t> — SPA-інтерфейс із інтегрованим редактором коду</a:t>
            </a:r>
          </a:p>
          <a:p>
            <a:pPr marL="114300" indent="0">
              <a:buNone/>
            </a:pPr>
            <a:r>
              <a:rPr lang="uk-UA" b="1" dirty="0" err="1"/>
              <a:t>DevOps</a:t>
            </a:r>
            <a:r>
              <a:rPr lang="en-US" b="1" dirty="0"/>
              <a:t> </a:t>
            </a:r>
            <a:r>
              <a:rPr lang="en-US" dirty="0"/>
              <a:t>GCP (</a:t>
            </a:r>
            <a:r>
              <a:rPr lang="uk-UA" dirty="0"/>
              <a:t>GKE + G</a:t>
            </a:r>
            <a:r>
              <a:rPr lang="en-US" dirty="0"/>
              <a:t>AR) </a:t>
            </a:r>
            <a:r>
              <a:rPr lang="uk-UA" dirty="0"/>
              <a:t>— хмарна екосистема для </a:t>
            </a:r>
            <a:r>
              <a:rPr lang="uk-UA" dirty="0" err="1"/>
              <a:t>оркестрації</a:t>
            </a:r>
            <a:r>
              <a:rPr lang="uk-UA" dirty="0"/>
              <a:t> та зберігання образів контейнерів</a:t>
            </a:r>
            <a:r>
              <a:rPr lang="en-US" dirty="0"/>
              <a:t> </a:t>
            </a:r>
            <a:r>
              <a:rPr lang="uk-UA" dirty="0" err="1"/>
              <a:t>Terraform</a:t>
            </a:r>
            <a:r>
              <a:rPr lang="uk-UA" dirty="0"/>
              <a:t> + </a:t>
            </a:r>
            <a:r>
              <a:rPr lang="uk-UA" dirty="0" err="1"/>
              <a:t>GitLab</a:t>
            </a:r>
            <a:r>
              <a:rPr lang="uk-UA" dirty="0"/>
              <a:t> CI/CD — автоматичне розгортання та декларативний опис усієї інфраструктури хмари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6726EC-C02E-8847-61AD-EBC5E32CA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5" y="1285228"/>
            <a:ext cx="88342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Розроблена система побудована за принципами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хмарно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-орієнтованої архітектури (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що дозволяє відокремити логіку керування від безпосередньої інфраструктури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оркестрації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uk-U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компоненти: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Сервіси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аналіз вихідного тексту, відправлення коду в кластер</a:t>
            </a:r>
          </a:p>
          <a:p>
            <a:r>
              <a:rPr lang="uk-UA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Оркестрація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uk-U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REST-API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асинхронні контролери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зв'язку з веб-панеллю</a:t>
            </a:r>
          </a:p>
          <a:p>
            <a:r>
              <a:rPr lang="uk-UA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Безсерверне</a:t>
            </a:r>
            <a:r>
              <a:rPr lang="uk-U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ядро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Knative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Serving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автоскейлінгу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0 до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мережевий шар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Kourier</a:t>
            </a:r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Інфраструктура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CI/CD,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Kaniko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sslip.io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54475" y="1321449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Проєкт реалізовано мовою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використанням фреймворку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що забезпечує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швидкодійний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API;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Доступ до бази даних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за допомогою об'єктно-реляційного відображення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Усі складові та користувацькі застосунки розгортаються у вигляді ізольованих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-контейнерів, які збираються рушієм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Kaniko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оркеструються у хмарному кластері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із застосуванням мережевого шару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Knative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декларативного оператора безперервної доставки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ArgoCD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37D1E-79F8-8071-D7ED-FE625A385A80}"/>
              </a:ext>
            </a:extLst>
          </p:cNvPr>
          <p:cNvSpPr txBox="1"/>
          <p:nvPr/>
        </p:nvSpPr>
        <p:spPr>
          <a:xfrm>
            <a:off x="5065837" y="1451672"/>
            <a:ext cx="3552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Конфігурація інфраструктурного маніфесту кластера</a:t>
            </a:r>
            <a:endParaRPr lang="ru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73281-73F8-562F-9DB7-DC0FF04470F5}"/>
              </a:ext>
            </a:extLst>
          </p:cNvPr>
          <p:cNvSpPr txBox="1"/>
          <p:nvPr/>
        </p:nvSpPr>
        <p:spPr>
          <a:xfrm>
            <a:off x="988055" y="2642325"/>
            <a:ext cx="2983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Функція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обробки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валідації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запиту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на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розгортання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мікросервісу</a:t>
            </a:r>
            <a:endParaRPr lang="ru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F018D-BEE8-66DE-F96F-0770D6B21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1" y="999683"/>
            <a:ext cx="3919361" cy="16426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5F7947-FB03-1EB3-4B82-ED1FE493A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350" y="2289249"/>
            <a:ext cx="4275070" cy="19917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48D39-9CF9-D368-E55A-9C97C8A7EBBA}"/>
              </a:ext>
            </a:extLst>
          </p:cNvPr>
          <p:cNvSpPr txBox="1"/>
          <p:nvPr/>
        </p:nvSpPr>
        <p:spPr>
          <a:xfrm>
            <a:off x="861525" y="3381862"/>
            <a:ext cx="2983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Інтерфейс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введення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та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конфігурування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вихідного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коду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мікросервісу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ru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C7315F-5E7B-5A76-D8EC-67EB02E77CC0}"/>
              </a:ext>
            </a:extLst>
          </p:cNvPr>
          <p:cNvSpPr txBox="1"/>
          <p:nvPr/>
        </p:nvSpPr>
        <p:spPr>
          <a:xfrm>
            <a:off x="5542209" y="41349"/>
            <a:ext cx="2983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Трекер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життєвого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циклу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розгортання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контейнера</a:t>
            </a:r>
            <a:endParaRPr lang="ru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50644-510F-64FB-9843-42D98279C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5" y="977922"/>
            <a:ext cx="4838776" cy="24596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978C21-2D55-CFB1-F474-98A89EA36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371" y="687680"/>
            <a:ext cx="3023670" cy="42644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77733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uk-UA" sz="1600" b="1" dirty="0"/>
              <a:t>Реалістичність</a:t>
            </a:r>
            <a:r>
              <a:rPr lang="uk-UA" sz="1600" dirty="0"/>
              <a:t> Розроблена програмна система автоматизованого розгортання коду у хмарному </a:t>
            </a:r>
            <a:r>
              <a:rPr lang="uk-UA" sz="1600" dirty="0" err="1"/>
              <a:t>контейнеризованому</a:t>
            </a:r>
            <a:r>
              <a:rPr lang="uk-UA" sz="1600" dirty="0"/>
              <a:t> середовищі підтвердила практичну здійсненність поставлених цілей — повний конвеєр доставки від перевірки синтаксису до </a:t>
            </a:r>
            <a:r>
              <a:rPr lang="uk-UA" sz="1600" dirty="0" err="1"/>
              <a:t>внутрішньокластерної</a:t>
            </a:r>
            <a:r>
              <a:rPr lang="uk-UA" sz="1600" dirty="0"/>
              <a:t> збірки образів </a:t>
            </a:r>
            <a:r>
              <a:rPr lang="uk-UA" sz="1600" dirty="0" err="1"/>
              <a:t>Kaniko</a:t>
            </a:r>
            <a:r>
              <a:rPr lang="uk-UA" sz="1600" dirty="0"/>
              <a:t> та </a:t>
            </a:r>
            <a:r>
              <a:rPr lang="uk-UA" sz="1600" dirty="0" err="1"/>
              <a:t>безсерверної</a:t>
            </a:r>
            <a:r>
              <a:rPr lang="uk-UA" sz="1600" dirty="0"/>
              <a:t> маршрутизації </a:t>
            </a:r>
            <a:r>
              <a:rPr lang="uk-UA" sz="1600" dirty="0" err="1"/>
              <a:t>Knative</a:t>
            </a:r>
            <a:r>
              <a:rPr lang="uk-UA" sz="1600" dirty="0"/>
              <a:t> успішно реалізовано й </a:t>
            </a:r>
            <a:r>
              <a:rPr lang="uk-UA" sz="1600" dirty="0" err="1"/>
              <a:t>протестовано</a:t>
            </a:r>
            <a:r>
              <a:rPr lang="uk-UA" sz="1600" dirty="0"/>
              <a:t>; платформа повністю готова до використання розробниками у реальних робочих процесах без суттєвих </a:t>
            </a:r>
            <a:r>
              <a:rPr lang="uk-UA" sz="1600" dirty="0" err="1"/>
              <a:t>доопрацювань</a:t>
            </a:r>
            <a:r>
              <a:rPr lang="uk-UA" sz="1600" dirty="0"/>
              <a:t>.</a:t>
            </a:r>
          </a:p>
          <a:p>
            <a:pPr marL="114300" indent="0">
              <a:buNone/>
            </a:pPr>
            <a:r>
              <a:rPr lang="uk-UA" sz="1600" b="1" dirty="0"/>
              <a:t>Можливості використання</a:t>
            </a:r>
            <a:r>
              <a:rPr lang="uk-UA" sz="1600" dirty="0"/>
              <a:t> Отримані результати можна застосувати для надійної автоматизації процесів безперервної інтеграції та доставки </a:t>
            </a:r>
            <a:r>
              <a:rPr lang="uk-UA" sz="1600" dirty="0" err="1"/>
              <a:t>мікросервісів</a:t>
            </a:r>
            <a:r>
              <a:rPr lang="uk-UA" sz="1600" dirty="0"/>
              <a:t>: надання розробникам ізольованих тестових середовищ, суттєва оптимізація фінансових витрат на інфраструктуру завдяки механізму масштабування до нуля </a:t>
            </a:r>
            <a:r>
              <a:rPr lang="uk-UA" sz="1600" dirty="0" err="1"/>
              <a:t>scale-to-zero</a:t>
            </a:r>
            <a:r>
              <a:rPr lang="uk-UA" sz="1600" dirty="0"/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2094</TotalTime>
  <Words>808</Words>
  <Application>Microsoft Office PowerPoint</Application>
  <PresentationFormat>On-screen Show (16:9)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Economica</vt:lpstr>
      <vt:lpstr>Open Sans</vt:lpstr>
      <vt:lpstr>Times New Roman</vt:lpstr>
      <vt:lpstr>Arial</vt:lpstr>
      <vt:lpstr>Шаблон презентації кваліфікаційної роботи магістрів</vt:lpstr>
      <vt:lpstr>Програмна система для автоматизованого розгортання програмного коду у хмарному контейнеризованому середовищі</vt:lpstr>
      <vt:lpstr>Мета роботи</vt:lpstr>
      <vt:lpstr>Аналіз існуючих рішень — AWS Lambda</vt:lpstr>
      <vt:lpstr>Аналіз існуючих рішень — Render</vt:lpstr>
      <vt:lpstr>Аналіз існуючих рішень — OpenFaaS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Приклад реалізації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DanyaPC</dc:creator>
  <cp:lastModifiedBy>Yevhen Tkachenko2</cp:lastModifiedBy>
  <cp:revision>8</cp:revision>
  <dcterms:created xsi:type="dcterms:W3CDTF">2025-06-06T13:02:57Z</dcterms:created>
  <dcterms:modified xsi:type="dcterms:W3CDTF">2026-07-02T15:27:02Z</dcterms:modified>
</cp:coreProperties>
</file>